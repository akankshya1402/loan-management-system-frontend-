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82" r:id="rId3"/>
    <p:sldId id="257" r:id="rId4"/>
    <p:sldId id="258" r:id="rId5"/>
    <p:sldId id="259" r:id="rId6"/>
    <p:sldId id="276" r:id="rId7"/>
    <p:sldId id="277" r:id="rId8"/>
    <p:sldId id="279" r:id="rId9"/>
    <p:sldId id="281" r:id="rId10"/>
    <p:sldId id="260" r:id="rId11"/>
    <p:sldId id="280" r:id="rId12"/>
    <p:sldId id="261" r:id="rId13"/>
    <p:sldId id="262" r:id="rId14"/>
    <p:sldId id="263" r:id="rId15"/>
    <p:sldId id="278" r:id="rId16"/>
    <p:sldId id="264" r:id="rId17"/>
    <p:sldId id="265" r:id="rId18"/>
    <p:sldId id="267" r:id="rId19"/>
    <p:sldId id="268" r:id="rId20"/>
    <p:sldId id="269" r:id="rId21"/>
    <p:sldId id="283" r:id="rId22"/>
    <p:sldId id="270" r:id="rId23"/>
    <p:sldId id="271" r:id="rId24"/>
    <p:sldId id="272" r:id="rId25"/>
    <p:sldId id="273" r:id="rId26"/>
    <p:sldId id="274" r:id="rId27"/>
    <p:sldId id="275" r:id="rId28"/>
  </p:sldIdLst>
  <p:sldSz cx="14630400" cy="8229600"/>
  <p:notesSz cx="8229600" cy="14630400"/>
  <p:embeddedFontLst>
    <p:embeddedFont>
      <p:font typeface="Consolas" panose="020B0609020204030204" pitchFamily="49" charset="0"/>
      <p:regular r:id="rId30"/>
      <p:bold r:id="rId31"/>
      <p:italic r:id="rId32"/>
      <p:boldItalic r:id="rId33"/>
    </p:embeddedFont>
    <p:embeddedFont>
      <p:font typeface="Montserrat Bold" panose="020B0604020202020204" charset="0"/>
      <p:bold r:id="rId34"/>
    </p:embeddedFont>
    <p:embeddedFont>
      <p:font typeface="Montserrat Light" panose="00000400000000000000" pitchFamily="2" charset="0"/>
      <p:regular r:id="rId35"/>
    </p:embeddedFont>
    <p:embeddedFont>
      <p:font typeface="Source Sans 3" panose="020B0604020202020204" charset="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782" y="-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6636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904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841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524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9336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1797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0658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6227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5620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556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svg"/><Relationship Id="rId11" Type="http://schemas.openxmlformats.org/officeDocument/2006/relationships/image" Target="../media/image2.pn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svg"/><Relationship Id="rId3" Type="http://schemas.openxmlformats.org/officeDocument/2006/relationships/image" Target="../media/image30.png"/><Relationship Id="rId7" Type="http://schemas.openxmlformats.org/officeDocument/2006/relationships/image" Target="../media/image34.sv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Relationship Id="rId1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svg"/><Relationship Id="rId9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.png"/><Relationship Id="rId4" Type="http://schemas.openxmlformats.org/officeDocument/2006/relationships/image" Target="../media/image50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2.png"/><Relationship Id="rId7" Type="http://schemas.openxmlformats.org/officeDocument/2006/relationships/image" Target="../media/image66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svg"/><Relationship Id="rId13" Type="http://schemas.openxmlformats.org/officeDocument/2006/relationships/image" Target="../media/image77.png"/><Relationship Id="rId18" Type="http://schemas.openxmlformats.org/officeDocument/2006/relationships/image" Target="../media/image82.png"/><Relationship Id="rId3" Type="http://schemas.openxmlformats.org/officeDocument/2006/relationships/image" Target="../media/image67.png"/><Relationship Id="rId21" Type="http://schemas.openxmlformats.org/officeDocument/2006/relationships/image" Target="../media/image2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17" Type="http://schemas.openxmlformats.org/officeDocument/2006/relationships/image" Target="../media/image81.sv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80.png"/><Relationship Id="rId20" Type="http://schemas.openxmlformats.org/officeDocument/2006/relationships/image" Target="../media/image84.sv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0.png"/><Relationship Id="rId11" Type="http://schemas.openxmlformats.org/officeDocument/2006/relationships/image" Target="../media/image75.svg"/><Relationship Id="rId5" Type="http://schemas.openxmlformats.org/officeDocument/2006/relationships/image" Target="../media/image69.svg"/><Relationship Id="rId15" Type="http://schemas.openxmlformats.org/officeDocument/2006/relationships/image" Target="../media/image79.png"/><Relationship Id="rId10" Type="http://schemas.openxmlformats.org/officeDocument/2006/relationships/image" Target="../media/image74.png"/><Relationship Id="rId19" Type="http://schemas.openxmlformats.org/officeDocument/2006/relationships/image" Target="../media/image83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Relationship Id="rId14" Type="http://schemas.openxmlformats.org/officeDocument/2006/relationships/image" Target="../media/image78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svg"/><Relationship Id="rId13" Type="http://schemas.openxmlformats.org/officeDocument/2006/relationships/image" Target="../media/image2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12" Type="http://schemas.openxmlformats.org/officeDocument/2006/relationships/image" Target="../media/image92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8.svg"/><Relationship Id="rId11" Type="http://schemas.openxmlformats.org/officeDocument/2006/relationships/image" Target="../media/image91.png"/><Relationship Id="rId5" Type="http://schemas.openxmlformats.org/officeDocument/2006/relationships/image" Target="../media/image87.png"/><Relationship Id="rId10" Type="http://schemas.openxmlformats.org/officeDocument/2006/relationships/image" Target="../media/image6.svg"/><Relationship Id="rId4" Type="http://schemas.openxmlformats.org/officeDocument/2006/relationships/image" Target="../media/image86.sv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478042" y="1156216"/>
            <a:ext cx="6460093" cy="576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Loan Management System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478042" y="2037517"/>
            <a:ext cx="11674197" cy="1591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250"/>
              </a:lnSpc>
              <a:buNone/>
            </a:pPr>
            <a:r>
              <a:rPr lang="en-US" sz="5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Microservices-Based, Event-Driven Financial Platform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1478042" y="3933825"/>
            <a:ext cx="11674197" cy="60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production-ready loan management system demonstrating enterprise-grade backend architecture with microservices, event-driven processing, and secure authentication. Built for real-world banking, NBFC, and FinTech applications.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1478042" y="4771073"/>
            <a:ext cx="5735598" cy="1425059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1681043" y="4974074"/>
            <a:ext cx="2877145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Architecture Excellence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81043" y="5384244"/>
            <a:ext cx="5329595" cy="60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Real-world enterprise design with separation of concerns using microservices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7416641" y="4771073"/>
            <a:ext cx="5735598" cy="1425059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7619643" y="4974074"/>
            <a:ext cx="2307074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Security First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619643" y="5384244"/>
            <a:ext cx="5329595" cy="60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JWT-based authentication and role-based authorization throughout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1478042" y="6399133"/>
            <a:ext cx="5735598" cy="1120616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15" name="Text 12"/>
          <p:cNvSpPr/>
          <p:nvPr/>
        </p:nvSpPr>
        <p:spPr>
          <a:xfrm>
            <a:off x="1681043" y="6602135"/>
            <a:ext cx="2307074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Event-Driven Core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681043" y="7012305"/>
            <a:ext cx="5329595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Asynchronous processing using Apache Kafka for scalability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7416641" y="6399133"/>
            <a:ext cx="5735598" cy="1120616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18" name="Text 15"/>
          <p:cNvSpPr/>
          <p:nvPr/>
        </p:nvSpPr>
        <p:spPr>
          <a:xfrm>
            <a:off x="7619643" y="6602135"/>
            <a:ext cx="2616756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Full-Stack Integration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619643" y="7012305"/>
            <a:ext cx="5329595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Angular frontend seamlessly integrated with backend services</a:t>
            </a:r>
            <a:endParaRPr lang="en-US" sz="15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B3320A8-F7C8-E843-AF8B-405E1F66B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2325" y="7723289"/>
            <a:ext cx="2133898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37788B-10E1-1E6C-DBCD-3A865F3F5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12344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715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95782" y="1296710"/>
            <a:ext cx="1076920" cy="379571"/>
          </a:xfrm>
          <a:prstGeom prst="roundRect">
            <a:avLst>
              <a:gd name="adj" fmla="val 6399"/>
            </a:avLst>
          </a:prstGeom>
          <a:noFill/>
          <a:ln w="7620">
            <a:solidFill>
              <a:srgbClr val="2D2E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24846" y="1365052"/>
            <a:ext cx="81879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CHALLENGE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495782" y="1757243"/>
            <a:ext cx="11093768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Operational Challenges in Traditional Systems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495782" y="2838331"/>
            <a:ext cx="3518297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Operational Bottlenecks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1495782" y="3385661"/>
            <a:ext cx="5572363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Loan approval requires multiple manual intervention steps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495782" y="3760113"/>
            <a:ext cx="5572363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EMI miscalculations occur frequently due to human error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95782" y="4134564"/>
            <a:ext cx="5572363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centralized tracking system for complete loan lifecycle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495782" y="4509016"/>
            <a:ext cx="5572363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 coupling creates dependencies between business modules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495782" y="5187077"/>
            <a:ext cx="5572363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System struggles to scale during peak demand periods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69637" y="2838331"/>
            <a:ext cx="3079552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Technical Limitations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7569637" y="3385661"/>
            <a:ext cx="5572363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Monolithic architecture limits flexibility and deployment speed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569637" y="4063722"/>
            <a:ext cx="5572363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Tight coupling between modules increases failure risk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569637" y="4438174"/>
            <a:ext cx="5572363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Single database becomes a bottleneck under load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569637" y="4812625"/>
            <a:ext cx="5572363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Lack of event-driven processing delays critical workflows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569637" y="5187077"/>
            <a:ext cx="5572363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independent service scaling capabilities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1495782" y="5789176"/>
            <a:ext cx="11638717" cy="1143595"/>
          </a:xfrm>
          <a:prstGeom prst="roundRect">
            <a:avLst>
              <a:gd name="adj" fmla="val 2655"/>
            </a:avLst>
          </a:prstGeom>
          <a:solidFill>
            <a:srgbClr val="D6D7DC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188" y="6070759"/>
            <a:ext cx="253008" cy="20240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2153603" y="6042184"/>
            <a:ext cx="10778490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These challenges compound in high-volume financial environments, where delayed processing and errors directly impact customer satisfaction and regulatory compliance.</a:t>
            </a:r>
            <a:endParaRPr lang="en-US" sz="15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9CFA03E-58D3-B2E0-F7D7-CB4CBB902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72325" y="7775348"/>
            <a:ext cx="2133898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6291" y="633532"/>
            <a:ext cx="1365290" cy="414576"/>
          </a:xfrm>
          <a:prstGeom prst="roundRect">
            <a:avLst>
              <a:gd name="adj" fmla="val 6669"/>
            </a:avLst>
          </a:prstGeom>
          <a:solidFill>
            <a:srgbClr val="E4E4E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523" y="748665"/>
            <a:ext cx="184309" cy="1843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0986" y="702588"/>
            <a:ext cx="812363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SOLUTION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06291" y="1140262"/>
            <a:ext cx="10189845" cy="654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Our Microservices Solution Approach</a:t>
            </a:r>
            <a:endParaRPr lang="en-US" sz="4100" dirty="0"/>
          </a:p>
        </p:txBody>
      </p:sp>
      <p:sp>
        <p:nvSpPr>
          <p:cNvPr id="6" name="Shape 3"/>
          <p:cNvSpPr/>
          <p:nvPr/>
        </p:nvSpPr>
        <p:spPr>
          <a:xfrm>
            <a:off x="806291" y="2140267"/>
            <a:ext cx="6393656" cy="5455920"/>
          </a:xfrm>
          <a:prstGeom prst="roundRect">
            <a:avLst>
              <a:gd name="adj" fmla="val 63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36771" y="2170747"/>
            <a:ext cx="6332696" cy="691158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30360" y="2343507"/>
            <a:ext cx="345519" cy="3455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7157" y="3092291"/>
            <a:ext cx="2618065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Design Philosophy</a:t>
            </a:r>
            <a:endParaRPr lang="en-US" sz="2050" dirty="0"/>
          </a:p>
        </p:txBody>
      </p:sp>
      <p:sp>
        <p:nvSpPr>
          <p:cNvPr id="10" name="Text 6"/>
          <p:cNvSpPr/>
          <p:nvPr/>
        </p:nvSpPr>
        <p:spPr>
          <a:xfrm>
            <a:off x="1067157" y="3557707"/>
            <a:ext cx="5871924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8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Single Responsibility</a:t>
            </a: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One service handles one business capability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067157" y="4329351"/>
            <a:ext cx="5871924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8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Resilience</a:t>
            </a: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Services fail fast and recover independently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067157" y="4755475"/>
            <a:ext cx="5871924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8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Asynchronous</a:t>
            </a: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Non-blocking operations wherever possible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067157" y="5527119"/>
            <a:ext cx="5871924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8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Decoupled</a:t>
            </a: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Loose coupling through event-driven communication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7430333" y="2140267"/>
            <a:ext cx="6393775" cy="5455920"/>
          </a:xfrm>
          <a:prstGeom prst="roundRect">
            <a:avLst>
              <a:gd name="adj" fmla="val 63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60813" y="2170747"/>
            <a:ext cx="6332815" cy="691158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54402" y="2343507"/>
            <a:ext cx="345519" cy="3455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691199" y="3092291"/>
            <a:ext cx="2618065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Improvements</a:t>
            </a:r>
            <a:endParaRPr lang="en-US" sz="2050" dirty="0"/>
          </a:p>
        </p:txBody>
      </p:sp>
      <p:sp>
        <p:nvSpPr>
          <p:cNvPr id="18" name="Text 13"/>
          <p:cNvSpPr/>
          <p:nvPr/>
        </p:nvSpPr>
        <p:spPr>
          <a:xfrm>
            <a:off x="7691199" y="3557707"/>
            <a:ext cx="5872043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8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Processing</a:t>
            </a: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Loan workflows execute without manual intervention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7691199" y="4329351"/>
            <a:ext cx="5872043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8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Event-Based Flow</a:t>
            </a: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Approvals and notifications triggered by business events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7691199" y="5100995"/>
            <a:ext cx="5872043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8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Independent Scaling</a:t>
            </a: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Each service scales based on its own demand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7691199" y="5872639"/>
            <a:ext cx="5872043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8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Centralized Config</a:t>
            </a: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Configuration managed in one location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7691199" y="6644283"/>
            <a:ext cx="5872043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8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 Access</a:t>
            </a: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Token-based authentication across all endpoints</a:t>
            </a:r>
            <a:endParaRPr lang="en-US" sz="1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7902A1C-1F3E-D703-DEF2-D8F89DA535D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72325" y="7736889"/>
            <a:ext cx="2133898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36896" y="523994"/>
            <a:ext cx="1217890" cy="342900"/>
          </a:xfrm>
          <a:prstGeom prst="roundRect">
            <a:avLst>
              <a:gd name="adj" fmla="val 6668"/>
            </a:avLst>
          </a:prstGeom>
          <a:solidFill>
            <a:srgbClr val="E4E4E7"/>
          </a:solidFill>
          <a:ln/>
        </p:spPr>
      </p:sp>
      <p:sp>
        <p:nvSpPr>
          <p:cNvPr id="3" name="Text 1"/>
          <p:cNvSpPr/>
          <p:nvPr/>
        </p:nvSpPr>
        <p:spPr>
          <a:xfrm>
            <a:off x="1951196" y="581144"/>
            <a:ext cx="98929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36896" y="943094"/>
            <a:ext cx="7203519" cy="541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High-Level System Architecture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36896" y="1770102"/>
            <a:ext cx="1095648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system follows a layered architecture pattern, with clear separation between client, gateway, services, and data layers. Each layer has distinct responsibilities and communicates through well-defined interfaces.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896" y="2841665"/>
            <a:ext cx="5382935" cy="1143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27396" y="3603784"/>
            <a:ext cx="2165271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Client Layer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027396" y="3988713"/>
            <a:ext cx="500193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Angular Web Application</a:t>
            </a: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provides the user interface with JWT-secured API calls ensuring every request is authenticated and authorized.</a:t>
            </a:r>
            <a:endParaRPr lang="en-US" sz="1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0331" y="2555915"/>
            <a:ext cx="5383054" cy="1143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00831" y="3318034"/>
            <a:ext cx="2165271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Gateway Layer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600831" y="3702963"/>
            <a:ext cx="500205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API Gateway</a:t>
            </a: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serves as the single entry point, handling request routing, load balancing, and authentication validation before forwarding to services.</a:t>
            </a:r>
            <a:endParaRPr lang="en-US" sz="15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896" y="5512713"/>
            <a:ext cx="5382935" cy="1143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027396" y="6274832"/>
            <a:ext cx="2165271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Service Layer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2027396" y="6659761"/>
            <a:ext cx="500193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Business Microservices</a:t>
            </a: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implement core domain logic, communicating via REST APIs and asynchronous Kafka events for loose coupling.</a:t>
            </a:r>
            <a:endParaRPr lang="en-US" sz="15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0331" y="5226963"/>
            <a:ext cx="5383054" cy="11430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600831" y="5989082"/>
            <a:ext cx="2165271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Layer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7600831" y="6374011"/>
            <a:ext cx="500205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Database Per Service</a:t>
            </a: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pattern ensures data independence—each service owns its schema with no shared tables across services.</a:t>
            </a:r>
            <a:endParaRPr lang="en-US" sz="15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79B4578-8821-03AC-1514-D2081586A6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96502" y="7693195"/>
            <a:ext cx="2133898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FB8667-961B-2B7C-7E2B-2BBF27E3F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1091" y="7543800"/>
            <a:ext cx="2359309" cy="5898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7859E6-4E98-3A15-5217-5EA95BB50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063" y="237457"/>
            <a:ext cx="12611426" cy="7754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851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2AEB06-DDA5-C3D5-F138-E50ECF4BE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9655" y="7579895"/>
            <a:ext cx="2118556" cy="5296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2A36D0-89DB-BE35-E29F-1C2840392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733" y="126227"/>
            <a:ext cx="11887200" cy="79833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82D606-BCBE-0110-AF34-62214292A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441230" y="3943797"/>
            <a:ext cx="7983308" cy="34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043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D9B44-8B50-210E-51A5-E6CE39E32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6800" y="7747836"/>
            <a:ext cx="2133600" cy="409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BD2265-0AFB-DCB9-AC2D-8A72C2BFA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148" y="0"/>
            <a:ext cx="6304547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065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A8C32E-24C7-A3FE-AD20-48D79803D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1576387"/>
            <a:ext cx="7620000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20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99090" y="395168"/>
            <a:ext cx="5914906" cy="406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Why Microservices Over Monolith?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3199090" y="1159669"/>
            <a:ext cx="2295882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Monolithic Limitations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199090" y="1564719"/>
            <a:ext cx="3512225" cy="877729"/>
          </a:xfrm>
          <a:prstGeom prst="roundRect">
            <a:avLst>
              <a:gd name="adj" fmla="val 8334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83850" y="1564719"/>
            <a:ext cx="60960" cy="877729"/>
          </a:xfrm>
          <a:prstGeom prst="roundRect">
            <a:avLst>
              <a:gd name="adj" fmla="val 35228"/>
            </a:avLst>
          </a:prstGeom>
          <a:solidFill>
            <a:srgbClr val="2D2E34"/>
          </a:solidFill>
          <a:ln/>
        </p:spPr>
      </p:sp>
      <p:sp>
        <p:nvSpPr>
          <p:cNvPr id="6" name="Text 4"/>
          <p:cNvSpPr/>
          <p:nvPr/>
        </p:nvSpPr>
        <p:spPr>
          <a:xfrm>
            <a:off x="3403163" y="1723073"/>
            <a:ext cx="1877378" cy="203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Single Point of Failure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403163" y="2069425"/>
            <a:ext cx="3149798" cy="214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 bug can bring down the entire application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99090" y="2585561"/>
            <a:ext cx="3512225" cy="1092398"/>
          </a:xfrm>
          <a:prstGeom prst="roundRect">
            <a:avLst>
              <a:gd name="adj" fmla="val 6696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83850" y="2585561"/>
            <a:ext cx="60960" cy="1092398"/>
          </a:xfrm>
          <a:prstGeom prst="roundRect">
            <a:avLst>
              <a:gd name="adj" fmla="val 35228"/>
            </a:avLst>
          </a:prstGeom>
          <a:solidFill>
            <a:srgbClr val="2D2E34"/>
          </a:solidFill>
          <a:ln/>
        </p:spPr>
      </p:sp>
      <p:sp>
        <p:nvSpPr>
          <p:cNvPr id="10" name="Text 8"/>
          <p:cNvSpPr/>
          <p:nvPr/>
        </p:nvSpPr>
        <p:spPr>
          <a:xfrm>
            <a:off x="3403163" y="2743914"/>
            <a:ext cx="1626870" cy="203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Scaling Challenges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03163" y="3090267"/>
            <a:ext cx="3149798" cy="42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Must scale entire application even if only one module needs capacity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99090" y="3821073"/>
            <a:ext cx="3512225" cy="1092398"/>
          </a:xfrm>
          <a:prstGeom prst="roundRect">
            <a:avLst>
              <a:gd name="adj" fmla="val 6696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83850" y="3821073"/>
            <a:ext cx="60960" cy="1092398"/>
          </a:xfrm>
          <a:prstGeom prst="roundRect">
            <a:avLst>
              <a:gd name="adj" fmla="val 35228"/>
            </a:avLst>
          </a:prstGeom>
          <a:solidFill>
            <a:srgbClr val="2D2E34"/>
          </a:solidFill>
          <a:ln/>
        </p:spPr>
      </p:sp>
      <p:sp>
        <p:nvSpPr>
          <p:cNvPr id="14" name="Text 12"/>
          <p:cNvSpPr/>
          <p:nvPr/>
        </p:nvSpPr>
        <p:spPr>
          <a:xfrm>
            <a:off x="3403163" y="3979426"/>
            <a:ext cx="1626870" cy="203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Slow Deployments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03163" y="4325779"/>
            <a:ext cx="3149798" cy="42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change requires full system redeployment and testing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99090" y="5056584"/>
            <a:ext cx="3512225" cy="877729"/>
          </a:xfrm>
          <a:prstGeom prst="roundRect">
            <a:avLst>
              <a:gd name="adj" fmla="val 8334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83850" y="5056584"/>
            <a:ext cx="60960" cy="877729"/>
          </a:xfrm>
          <a:prstGeom prst="roundRect">
            <a:avLst>
              <a:gd name="adj" fmla="val 35228"/>
            </a:avLst>
          </a:prstGeom>
          <a:solidFill>
            <a:srgbClr val="2D2E34"/>
          </a:solidFill>
          <a:ln/>
        </p:spPr>
      </p:sp>
      <p:sp>
        <p:nvSpPr>
          <p:cNvPr id="18" name="Text 16"/>
          <p:cNvSpPr/>
          <p:nvPr/>
        </p:nvSpPr>
        <p:spPr>
          <a:xfrm>
            <a:off x="3403163" y="5214938"/>
            <a:ext cx="1660327" cy="203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Technology Lock-in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403163" y="5561290"/>
            <a:ext cx="3149798" cy="214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Difficult to adopt new technologies or frameworks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68264" y="1159669"/>
            <a:ext cx="2672953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Microservices Advantages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068264" y="1564719"/>
            <a:ext cx="4370427" cy="1419820"/>
          </a:xfrm>
          <a:prstGeom prst="roundRect">
            <a:avLst>
              <a:gd name="adj" fmla="val 1513"/>
            </a:avLst>
          </a:prstGeom>
          <a:solidFill>
            <a:srgbClr val="F2EEEE"/>
          </a:solidFill>
          <a:ln/>
        </p:spPr>
      </p:sp>
      <p:sp>
        <p:nvSpPr>
          <p:cNvPr id="22" name="Shape 20"/>
          <p:cNvSpPr/>
          <p:nvPr/>
        </p:nvSpPr>
        <p:spPr>
          <a:xfrm>
            <a:off x="7211378" y="1707832"/>
            <a:ext cx="429458" cy="429458"/>
          </a:xfrm>
          <a:prstGeom prst="roundRect">
            <a:avLst>
              <a:gd name="adj" fmla="val 21289825"/>
            </a:avLst>
          </a:prstGeom>
          <a:solidFill>
            <a:srgbClr val="2D2E34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9488" y="1825943"/>
            <a:ext cx="193238" cy="19323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211378" y="2280404"/>
            <a:ext cx="2296716" cy="203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Independent Deployments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211378" y="2626757"/>
            <a:ext cx="4084201" cy="214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Deploy and update services without affecting others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068264" y="3127653"/>
            <a:ext cx="4370427" cy="1419820"/>
          </a:xfrm>
          <a:prstGeom prst="roundRect">
            <a:avLst>
              <a:gd name="adj" fmla="val 1513"/>
            </a:avLst>
          </a:prstGeom>
          <a:solidFill>
            <a:srgbClr val="F2EEEE"/>
          </a:solidFill>
          <a:ln/>
        </p:spPr>
      </p:sp>
      <p:sp>
        <p:nvSpPr>
          <p:cNvPr id="27" name="Shape 24"/>
          <p:cNvSpPr/>
          <p:nvPr/>
        </p:nvSpPr>
        <p:spPr>
          <a:xfrm>
            <a:off x="7211378" y="3270766"/>
            <a:ext cx="429458" cy="429458"/>
          </a:xfrm>
          <a:prstGeom prst="roundRect">
            <a:avLst>
              <a:gd name="adj" fmla="val 21289825"/>
            </a:avLst>
          </a:prstGeom>
          <a:solidFill>
            <a:srgbClr val="2D2E34"/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9488" y="3388876"/>
            <a:ext cx="193238" cy="19323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211378" y="3843337"/>
            <a:ext cx="1856303" cy="203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Technology Flexibility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7211378" y="4189690"/>
            <a:ext cx="4084201" cy="214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Choose the best tech stack for each service's needs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7068264" y="4690586"/>
            <a:ext cx="4370427" cy="1419820"/>
          </a:xfrm>
          <a:prstGeom prst="roundRect">
            <a:avLst>
              <a:gd name="adj" fmla="val 1513"/>
            </a:avLst>
          </a:prstGeom>
          <a:solidFill>
            <a:srgbClr val="F2EEEE"/>
          </a:solidFill>
          <a:ln/>
        </p:spPr>
      </p:sp>
      <p:sp>
        <p:nvSpPr>
          <p:cNvPr id="32" name="Shape 28"/>
          <p:cNvSpPr/>
          <p:nvPr/>
        </p:nvSpPr>
        <p:spPr>
          <a:xfrm>
            <a:off x="7211378" y="4833699"/>
            <a:ext cx="429458" cy="429458"/>
          </a:xfrm>
          <a:prstGeom prst="roundRect">
            <a:avLst>
              <a:gd name="adj" fmla="val 21289825"/>
            </a:avLst>
          </a:prstGeom>
          <a:solidFill>
            <a:srgbClr val="2D2E34"/>
          </a:solidFill>
          <a:ln/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29488" y="4951809"/>
            <a:ext cx="193238" cy="19323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211378" y="5406271"/>
            <a:ext cx="1886307" cy="203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Better Fault Tolerance</a:t>
            </a:r>
            <a:endParaRPr lang="en-US" sz="1250" dirty="0"/>
          </a:p>
        </p:txBody>
      </p:sp>
      <p:sp>
        <p:nvSpPr>
          <p:cNvPr id="35" name="Text 30"/>
          <p:cNvSpPr/>
          <p:nvPr/>
        </p:nvSpPr>
        <p:spPr>
          <a:xfrm>
            <a:off x="7211378" y="5752624"/>
            <a:ext cx="4084201" cy="214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Failures are isolated and don't cascade across system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7068264" y="6253520"/>
            <a:ext cx="4370427" cy="1419820"/>
          </a:xfrm>
          <a:prstGeom prst="roundRect">
            <a:avLst>
              <a:gd name="adj" fmla="val 1513"/>
            </a:avLst>
          </a:prstGeom>
          <a:solidFill>
            <a:srgbClr val="F2EEEE"/>
          </a:solidFill>
          <a:ln/>
        </p:spPr>
      </p:sp>
      <p:sp>
        <p:nvSpPr>
          <p:cNvPr id="37" name="Shape 32"/>
          <p:cNvSpPr/>
          <p:nvPr/>
        </p:nvSpPr>
        <p:spPr>
          <a:xfrm>
            <a:off x="7211378" y="6396633"/>
            <a:ext cx="429458" cy="429458"/>
          </a:xfrm>
          <a:prstGeom prst="roundRect">
            <a:avLst>
              <a:gd name="adj" fmla="val 21289825"/>
            </a:avLst>
          </a:prstGeom>
          <a:solidFill>
            <a:srgbClr val="2D2E34"/>
          </a:solidFill>
          <a:ln/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29488" y="6514743"/>
            <a:ext cx="193238" cy="19323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7211378" y="6969204"/>
            <a:ext cx="1798320" cy="203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Horizontal Scalability</a:t>
            </a:r>
            <a:endParaRPr lang="en-US" sz="1250" dirty="0"/>
          </a:p>
        </p:txBody>
      </p:sp>
      <p:sp>
        <p:nvSpPr>
          <p:cNvPr id="40" name="Text 34"/>
          <p:cNvSpPr/>
          <p:nvPr/>
        </p:nvSpPr>
        <p:spPr>
          <a:xfrm>
            <a:off x="7211378" y="7315557"/>
            <a:ext cx="4084201" cy="214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Scale individual services based on specific demand patterns</a:t>
            </a:r>
            <a:endParaRPr lang="en-US" sz="11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B95E6BE-B312-108D-D8EB-4350D37AC7E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439333" y="7792878"/>
            <a:ext cx="2133898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9BCAF4-9348-AD85-849C-B37BFAFFE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839" y="1654446"/>
            <a:ext cx="7620000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04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9072" y="408027"/>
            <a:ext cx="1075968" cy="266819"/>
          </a:xfrm>
          <a:prstGeom prst="roundRect">
            <a:avLst>
              <a:gd name="adj" fmla="val 6674"/>
            </a:avLst>
          </a:prstGeom>
          <a:solidFill>
            <a:srgbClr val="E4E4E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38011" y="482084"/>
            <a:ext cx="118705" cy="1187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16010" y="452438"/>
            <a:ext cx="720090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AUTH SERVICE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049072" y="734139"/>
            <a:ext cx="5974318" cy="421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Authentication Service Deep Dive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3605570" y="2387560"/>
            <a:ext cx="1919764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Identity Management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049072" y="2687241"/>
            <a:ext cx="2476262" cy="667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5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Handles user registration, login, and profile management with secure credential storage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2037" y="1378148"/>
            <a:ext cx="2986207" cy="2986207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58925" y="2760166"/>
            <a:ext cx="221933" cy="2219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30772" y="1641038"/>
            <a:ext cx="168616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Token Lifecycle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9030772" y="1940719"/>
            <a:ext cx="2550438" cy="667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Manages JWT creation, validation, refresh, and expiration throughout user sessions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2037" y="1378148"/>
            <a:ext cx="2986207" cy="29862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26620" y="1855053"/>
            <a:ext cx="221933" cy="22193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030772" y="3356610"/>
            <a:ext cx="168616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Role Enforcement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9030772" y="3656290"/>
            <a:ext cx="2550438" cy="445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Implements role-based access control with claims embedded in JWT tokens</a:t>
            </a:r>
            <a:endParaRPr lang="en-US" sz="11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22037" y="1378148"/>
            <a:ext cx="2986207" cy="2986207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726620" y="3665280"/>
            <a:ext cx="221933" cy="221933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3049072" y="4605406"/>
            <a:ext cx="8532138" cy="26075"/>
          </a:xfrm>
          <a:prstGeom prst="rect">
            <a:avLst/>
          </a:prstGeom>
          <a:solidFill>
            <a:srgbClr val="3D3838">
              <a:alpha val="50000"/>
            </a:srgbClr>
          </a:solidFill>
          <a:ln/>
        </p:spPr>
      </p:sp>
      <p:sp>
        <p:nvSpPr>
          <p:cNvPr id="19" name="Text 10"/>
          <p:cNvSpPr/>
          <p:nvPr/>
        </p:nvSpPr>
        <p:spPr>
          <a:xfrm>
            <a:off x="3049072" y="4853940"/>
            <a:ext cx="3583186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Components &amp; Security Rules</a:t>
            </a:r>
            <a:endParaRPr lang="en-US" sz="1550" dirty="0"/>
          </a:p>
        </p:txBody>
      </p:sp>
      <p:sp>
        <p:nvSpPr>
          <p:cNvPr id="20" name="Text 11"/>
          <p:cNvSpPr/>
          <p:nvPr/>
        </p:nvSpPr>
        <p:spPr>
          <a:xfrm>
            <a:off x="3049072" y="5477589"/>
            <a:ext cx="168616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Core Components</a:t>
            </a:r>
            <a:endParaRPr lang="en-US" sz="1300" dirty="0"/>
          </a:p>
        </p:txBody>
      </p:sp>
      <p:sp>
        <p:nvSpPr>
          <p:cNvPr id="21" name="Text 12"/>
          <p:cNvSpPr/>
          <p:nvPr/>
        </p:nvSpPr>
        <p:spPr>
          <a:xfrm>
            <a:off x="3049072" y="5836682"/>
            <a:ext cx="4085034" cy="445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JWTService</a:t>
            </a: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Handles token generation with configurable expiration and signature validation</a:t>
            </a:r>
            <a:endParaRPr lang="en-US" sz="1150" dirty="0"/>
          </a:p>
        </p:txBody>
      </p:sp>
      <p:sp>
        <p:nvSpPr>
          <p:cNvPr id="22" name="Text 13"/>
          <p:cNvSpPr/>
          <p:nvPr/>
        </p:nvSpPr>
        <p:spPr>
          <a:xfrm>
            <a:off x="3049072" y="6333649"/>
            <a:ext cx="4085034" cy="445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UserService</a:t>
            </a: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Manages CRUD operations for user accounts and profile data</a:t>
            </a:r>
            <a:endParaRPr lang="en-US" sz="1150" dirty="0"/>
          </a:p>
        </p:txBody>
      </p:sp>
      <p:sp>
        <p:nvSpPr>
          <p:cNvPr id="23" name="Text 14"/>
          <p:cNvSpPr/>
          <p:nvPr/>
        </p:nvSpPr>
        <p:spPr>
          <a:xfrm>
            <a:off x="3049072" y="6830616"/>
            <a:ext cx="4085034" cy="445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AuthController</a:t>
            </a: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Exposes REST endpoints for login, registration, and token refresh</a:t>
            </a:r>
            <a:endParaRPr lang="en-US" sz="1150" dirty="0"/>
          </a:p>
        </p:txBody>
      </p:sp>
      <p:sp>
        <p:nvSpPr>
          <p:cNvPr id="24" name="Text 15"/>
          <p:cNvSpPr/>
          <p:nvPr/>
        </p:nvSpPr>
        <p:spPr>
          <a:xfrm>
            <a:off x="7503676" y="5477589"/>
            <a:ext cx="2199799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Security Implementation</a:t>
            </a:r>
            <a:endParaRPr lang="en-US" sz="1300" dirty="0"/>
          </a:p>
        </p:txBody>
      </p:sp>
      <p:sp>
        <p:nvSpPr>
          <p:cNvPr id="25" name="Text 16"/>
          <p:cNvSpPr/>
          <p:nvPr/>
        </p:nvSpPr>
        <p:spPr>
          <a:xfrm>
            <a:off x="7503676" y="5836682"/>
            <a:ext cx="4085034" cy="445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Password Protection</a:t>
            </a: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BCrypt hashing with configurable work factor</a:t>
            </a:r>
            <a:endParaRPr lang="en-US" sz="1150" dirty="0"/>
          </a:p>
        </p:txBody>
      </p:sp>
      <p:sp>
        <p:nvSpPr>
          <p:cNvPr id="26" name="Text 17"/>
          <p:cNvSpPr/>
          <p:nvPr/>
        </p:nvSpPr>
        <p:spPr>
          <a:xfrm>
            <a:off x="7503676" y="6333649"/>
            <a:ext cx="4085034" cy="445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Token Expiration</a:t>
            </a: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Automatic invalidation after configurable timeout period</a:t>
            </a:r>
            <a:endParaRPr lang="en-US" sz="1150" dirty="0"/>
          </a:p>
        </p:txBody>
      </p:sp>
      <p:sp>
        <p:nvSpPr>
          <p:cNvPr id="27" name="Text 18"/>
          <p:cNvSpPr/>
          <p:nvPr/>
        </p:nvSpPr>
        <p:spPr>
          <a:xfrm>
            <a:off x="7503676" y="6830616"/>
            <a:ext cx="4085034" cy="445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Role Claims</a:t>
            </a: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User roles embedded directly inside JWT claims for stateless authorization</a:t>
            </a:r>
            <a:endParaRPr lang="en-US" sz="1150" dirty="0"/>
          </a:p>
        </p:txBody>
      </p:sp>
      <p:sp>
        <p:nvSpPr>
          <p:cNvPr id="28" name="Text 19"/>
          <p:cNvSpPr/>
          <p:nvPr/>
        </p:nvSpPr>
        <p:spPr>
          <a:xfrm>
            <a:off x="7503676" y="7327582"/>
            <a:ext cx="4085034" cy="445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 Headers</a:t>
            </a: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CORS and security headers configured on all endpoints</a:t>
            </a:r>
            <a:endParaRPr lang="en-US" sz="11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170CB88-4AB9-2B43-752F-7584B99D01B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447755" y="7724512"/>
            <a:ext cx="2133898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2376" y="612338"/>
            <a:ext cx="2033468" cy="400764"/>
          </a:xfrm>
          <a:prstGeom prst="roundRect">
            <a:avLst>
              <a:gd name="adj" fmla="val 6668"/>
            </a:avLst>
          </a:prstGeom>
          <a:solidFill>
            <a:srgbClr val="E4E4E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5964" y="723662"/>
            <a:ext cx="178118" cy="178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3140" y="679133"/>
            <a:ext cx="1499116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 SERVICE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12376" y="1102162"/>
            <a:ext cx="7546300" cy="63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Customer Service Deep Dive</a:t>
            </a:r>
            <a:endParaRPr lang="en-US" sz="3950" dirty="0"/>
          </a:p>
        </p:txBody>
      </p:sp>
      <p:sp>
        <p:nvSpPr>
          <p:cNvPr id="6" name="Text 3"/>
          <p:cNvSpPr/>
          <p:nvPr/>
        </p:nvSpPr>
        <p:spPr>
          <a:xfrm>
            <a:off x="912376" y="2068711"/>
            <a:ext cx="12805529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Customer Service acts as the single source of truth for customer identity and KYC data. It provides immutable customer records that other services reference throughout the loan lifecycle.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376" y="2987159"/>
            <a:ext cx="4268510" cy="8907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35023" y="4100512"/>
            <a:ext cx="2530673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Customer Model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1135023" y="4550450"/>
            <a:ext cx="3823216" cy="1335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Stores immutable customer identity including personal details, contact information, and unique identifiers used as foreign keys across services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0886" y="2987159"/>
            <a:ext cx="4268510" cy="89070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03533" y="4100512"/>
            <a:ext cx="2530673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KYC Handling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5403533" y="4550450"/>
            <a:ext cx="3823216" cy="1335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Manages document upload, verification workflow, and approval status—KYC completion is mandatory before any loan approval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9395" y="2987159"/>
            <a:ext cx="4268510" cy="89070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72042" y="4100512"/>
            <a:ext cx="2530673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Validation Rules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9672042" y="4550450"/>
            <a:ext cx="3823216" cy="1335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Enforces email uniqueness, phone number format validation, and ensures customer record exists before loan requests</a:t>
            </a:r>
            <a:endParaRPr lang="en-US" sz="1750" dirty="0"/>
          </a:p>
        </p:txBody>
      </p:sp>
      <p:sp>
        <p:nvSpPr>
          <p:cNvPr id="16" name="Shape 10"/>
          <p:cNvSpPr/>
          <p:nvPr/>
        </p:nvSpPr>
        <p:spPr>
          <a:xfrm>
            <a:off x="912376" y="6359485"/>
            <a:ext cx="12805529" cy="1257895"/>
          </a:xfrm>
          <a:prstGeom prst="roundRect">
            <a:avLst>
              <a:gd name="adj" fmla="val 2656"/>
            </a:avLst>
          </a:prstGeom>
          <a:solidFill>
            <a:srgbClr val="D6D7DC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5023" y="6671429"/>
            <a:ext cx="278368" cy="22264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636038" y="6637734"/>
            <a:ext cx="11859220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 records are never deleted—only marked as inactive—to maintain historical data integrity and audit trails for regulatory compliance.</a:t>
            </a:r>
            <a:endParaRPr lang="en-US" sz="17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A9D8395-A483-02F3-E75A-E828E1D36F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28309" y="7690813"/>
            <a:ext cx="2133898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6806" y="704374"/>
            <a:ext cx="1162526" cy="284202"/>
          </a:xfrm>
          <a:prstGeom prst="roundRect">
            <a:avLst>
              <a:gd name="adj" fmla="val 6313"/>
            </a:avLst>
          </a:prstGeom>
          <a:noFill/>
          <a:ln w="7620">
            <a:solidFill>
              <a:srgbClr val="2D2E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14080" y="756761"/>
            <a:ext cx="967978" cy="179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LOAN APPLICATION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016806" y="1048345"/>
            <a:ext cx="6342698" cy="42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Loan Application Service Deep Dive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3016806" y="1697236"/>
            <a:ext cx="8596789" cy="448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service serves as the entry point for the loan lifecycle, capturing customer loan requests and enforcing initial business rules before processing begins.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016806" y="2538174"/>
            <a:ext cx="2765941" cy="1752838"/>
          </a:xfrm>
          <a:prstGeom prst="roundRect">
            <a:avLst>
              <a:gd name="adj" fmla="val 4173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3016806" y="2522934"/>
            <a:ext cx="2765941" cy="60960"/>
          </a:xfrm>
          <a:prstGeom prst="roundRect">
            <a:avLst>
              <a:gd name="adj" fmla="val 36789"/>
            </a:avLst>
          </a:prstGeom>
          <a:solidFill>
            <a:srgbClr val="2D2E34"/>
          </a:solidFill>
          <a:ln/>
        </p:spPr>
      </p:sp>
      <p:sp>
        <p:nvSpPr>
          <p:cNvPr id="8" name="Shape 6"/>
          <p:cNvSpPr/>
          <p:nvPr/>
        </p:nvSpPr>
        <p:spPr>
          <a:xfrm>
            <a:off x="4175462" y="2313980"/>
            <a:ext cx="448508" cy="448508"/>
          </a:xfrm>
          <a:prstGeom prst="roundRect">
            <a:avLst>
              <a:gd name="adj" fmla="val 203876"/>
            </a:avLst>
          </a:prstGeom>
          <a:solidFill>
            <a:srgbClr val="2D2E34"/>
          </a:solidFill>
          <a:ln/>
        </p:spPr>
      </p:sp>
      <p:sp>
        <p:nvSpPr>
          <p:cNvPr id="9" name="Text 7"/>
          <p:cNvSpPr/>
          <p:nvPr/>
        </p:nvSpPr>
        <p:spPr>
          <a:xfrm>
            <a:off x="4310003" y="2426137"/>
            <a:ext cx="179308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81469" y="2911912"/>
            <a:ext cx="2104549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Application Submission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81469" y="3213854"/>
            <a:ext cx="2436614" cy="897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 submits loan request with amount, tenure preference, and purpose. System validates customer eligibility and active application status.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32170" y="2538174"/>
            <a:ext cx="2765941" cy="1752838"/>
          </a:xfrm>
          <a:prstGeom prst="roundRect">
            <a:avLst>
              <a:gd name="adj" fmla="val 4173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932170" y="2522934"/>
            <a:ext cx="2765941" cy="60960"/>
          </a:xfrm>
          <a:prstGeom prst="roundRect">
            <a:avLst>
              <a:gd name="adj" fmla="val 36789"/>
            </a:avLst>
          </a:prstGeom>
          <a:solidFill>
            <a:srgbClr val="2D2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7090827" y="2313980"/>
            <a:ext cx="448508" cy="448508"/>
          </a:xfrm>
          <a:prstGeom prst="roundRect">
            <a:avLst>
              <a:gd name="adj" fmla="val 203876"/>
            </a:avLst>
          </a:prstGeom>
          <a:solidFill>
            <a:srgbClr val="2D2E34"/>
          </a:solidFill>
          <a:ln/>
        </p:spPr>
      </p:sp>
      <p:sp>
        <p:nvSpPr>
          <p:cNvPr id="15" name="Text 13"/>
          <p:cNvSpPr/>
          <p:nvPr/>
        </p:nvSpPr>
        <p:spPr>
          <a:xfrm>
            <a:off x="7225367" y="2426137"/>
            <a:ext cx="179308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96833" y="2911912"/>
            <a:ext cx="1741289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Business Validation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96833" y="3213854"/>
            <a:ext cx="2436614" cy="897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Enforces tenure options (12, 24, or 36 months), minimum loan amount thresholds, and one-active-application-per-customer rule.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847534" y="2538174"/>
            <a:ext cx="2766060" cy="1752838"/>
          </a:xfrm>
          <a:prstGeom prst="roundRect">
            <a:avLst>
              <a:gd name="adj" fmla="val 4173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847534" y="2522934"/>
            <a:ext cx="2766060" cy="60960"/>
          </a:xfrm>
          <a:prstGeom prst="roundRect">
            <a:avLst>
              <a:gd name="adj" fmla="val 36789"/>
            </a:avLst>
          </a:prstGeom>
          <a:solidFill>
            <a:srgbClr val="2D2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06310" y="2313980"/>
            <a:ext cx="448508" cy="448508"/>
          </a:xfrm>
          <a:prstGeom prst="roundRect">
            <a:avLst>
              <a:gd name="adj" fmla="val 203876"/>
            </a:avLst>
          </a:prstGeom>
          <a:solidFill>
            <a:srgbClr val="2D2E34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0851" y="2426137"/>
            <a:ext cx="179308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12198" y="2911912"/>
            <a:ext cx="1698903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Event Publication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12198" y="3213854"/>
            <a:ext cx="2436733" cy="912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Upon successful validation, publishes </a:t>
            </a:r>
            <a:r>
              <a:rPr lang="en-US" sz="11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LoanApplicationSubmittedEvent</a:t>
            </a: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Kafka for asynchronous processing by downstream services.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016806" y="4533773"/>
            <a:ext cx="8596789" cy="26194"/>
          </a:xfrm>
          <a:prstGeom prst="rect">
            <a:avLst/>
          </a:prstGeom>
          <a:solidFill>
            <a:srgbClr val="3D3838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016806" y="4784050"/>
            <a:ext cx="2468285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LoanApplication Model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016806" y="5412462"/>
            <a:ext cx="1698903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Core Fields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016806" y="5774174"/>
            <a:ext cx="3219926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applicationId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016806" y="6065996"/>
            <a:ext cx="3219926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customerId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016806" y="6357818"/>
            <a:ext cx="3219926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loanAmount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016806" y="6649641"/>
            <a:ext cx="3219926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tenure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016806" y="6941463"/>
            <a:ext cx="3219926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016806" y="7233285"/>
            <a:ext cx="3219926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608921" y="5412462"/>
            <a:ext cx="1857256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Business Constraints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08921" y="5774174"/>
            <a:ext cx="5012174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Tenure Options:</a:t>
            </a: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12, 24, or 36 months only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608921" y="6133028"/>
            <a:ext cx="5012174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Amount Validation:</a:t>
            </a: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Must exceed minimum threshold defined in configuration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608921" y="6491883"/>
            <a:ext cx="5012174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Application Limit:</a:t>
            </a: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One active application per customer at any time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608921" y="6850737"/>
            <a:ext cx="5012174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Status Tracking:</a:t>
            </a: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Moves through SUBMITTED → APPROVED/REJECTED states</a:t>
            </a:r>
            <a:endParaRPr lang="en-US" sz="115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B11DEE78-AF85-854B-BEB1-19330B8ED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6388" y="7795422"/>
            <a:ext cx="2133898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327C38-48C9-4071-6485-4158204F6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6800" y="7711991"/>
            <a:ext cx="2133600" cy="409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894465-0B6E-2FC4-125A-842B4DBE5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263" y="909720"/>
            <a:ext cx="9621253" cy="64101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ABF9F7-D003-20FF-41DF-198427F2B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4744" y="909720"/>
            <a:ext cx="640682" cy="64101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BA061A-4024-CAD8-FE4D-052F2BBCE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6581" y="909720"/>
            <a:ext cx="640682" cy="64101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7BB3AF-5C49-A41D-2BB9-574CA808C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205663" y="-4810045"/>
            <a:ext cx="640682" cy="107988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66A8E2-A9D3-F889-9F16-41724A21C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205662" y="2116514"/>
            <a:ext cx="640682" cy="1079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707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5025" y="514945"/>
            <a:ext cx="1004292" cy="266700"/>
          </a:xfrm>
          <a:prstGeom prst="roundRect">
            <a:avLst>
              <a:gd name="adj" fmla="val 6667"/>
            </a:avLst>
          </a:prstGeom>
          <a:solidFill>
            <a:srgbClr val="E4E4E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43845" y="589002"/>
            <a:ext cx="118467" cy="1184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21487" y="559356"/>
            <a:ext cx="649010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PROCESSING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055025" y="840819"/>
            <a:ext cx="6197560" cy="421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Loan Processing Service Deep Dive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3055025" y="1483995"/>
            <a:ext cx="8520351" cy="444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service contains the heavyweight business logic for loan approval, executing complex eligibility checks and generating complete EMI schedules.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055025" y="3669268"/>
            <a:ext cx="8520351" cy="15240"/>
          </a:xfrm>
          <a:prstGeom prst="roundRect">
            <a:avLst>
              <a:gd name="adj" fmla="val 145848"/>
            </a:avLst>
          </a:prstGeom>
          <a:solidFill>
            <a:srgbClr val="D8D4D4"/>
          </a:solidFill>
          <a:ln/>
        </p:spPr>
      </p:sp>
      <p:sp>
        <p:nvSpPr>
          <p:cNvPr id="8" name="Shape 5"/>
          <p:cNvSpPr/>
          <p:nvPr/>
        </p:nvSpPr>
        <p:spPr>
          <a:xfrm>
            <a:off x="4695825" y="3224808"/>
            <a:ext cx="15240" cy="444460"/>
          </a:xfrm>
          <a:prstGeom prst="roundRect">
            <a:avLst>
              <a:gd name="adj" fmla="val 145848"/>
            </a:avLst>
          </a:prstGeom>
          <a:solidFill>
            <a:srgbClr val="D8D4D4"/>
          </a:solidFill>
          <a:ln/>
        </p:spPr>
      </p:sp>
      <p:sp>
        <p:nvSpPr>
          <p:cNvPr id="9" name="Shape 6"/>
          <p:cNvSpPr/>
          <p:nvPr/>
        </p:nvSpPr>
        <p:spPr>
          <a:xfrm>
            <a:off x="4536758" y="3502581"/>
            <a:ext cx="333375" cy="333375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4602420" y="3543002"/>
            <a:ext cx="202049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3830360" y="2095262"/>
            <a:ext cx="1746171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Event Consumption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03138" y="2394466"/>
            <a:ext cx="3000732" cy="682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Listens for </a:t>
            </a:r>
            <a:r>
              <a:rPr lang="en-US" sz="11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LoanApplicationSubmittedEvent</a:t>
            </a: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from Kafka, triggering the processing workflow asynchronously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36995" y="3669268"/>
            <a:ext cx="15240" cy="444460"/>
          </a:xfrm>
          <a:prstGeom prst="roundRect">
            <a:avLst>
              <a:gd name="adj" fmla="val 145848"/>
            </a:avLst>
          </a:prstGeom>
          <a:solidFill>
            <a:srgbClr val="D8D4D4"/>
          </a:solidFill>
          <a:ln/>
        </p:spPr>
      </p:sp>
      <p:sp>
        <p:nvSpPr>
          <p:cNvPr id="14" name="Shape 11"/>
          <p:cNvSpPr/>
          <p:nvPr/>
        </p:nvSpPr>
        <p:spPr>
          <a:xfrm>
            <a:off x="6277928" y="3502581"/>
            <a:ext cx="333375" cy="333375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5" name="Text 12"/>
          <p:cNvSpPr/>
          <p:nvPr/>
        </p:nvSpPr>
        <p:spPr>
          <a:xfrm>
            <a:off x="6343590" y="3543002"/>
            <a:ext cx="202049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5602724" y="4261961"/>
            <a:ext cx="1683782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Eligibility Checks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944189" y="4561165"/>
            <a:ext cx="3000851" cy="666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Performs credit score validation, income verification, debt-to-income ratio calculation, and KYC status confirmation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178046" y="3224808"/>
            <a:ext cx="15240" cy="444460"/>
          </a:xfrm>
          <a:prstGeom prst="roundRect">
            <a:avLst>
              <a:gd name="adj" fmla="val 145848"/>
            </a:avLst>
          </a:prstGeom>
          <a:solidFill>
            <a:srgbClr val="D8D4D4"/>
          </a:solidFill>
          <a:ln/>
        </p:spPr>
      </p:sp>
      <p:sp>
        <p:nvSpPr>
          <p:cNvPr id="19" name="Shape 16"/>
          <p:cNvSpPr/>
          <p:nvPr/>
        </p:nvSpPr>
        <p:spPr>
          <a:xfrm>
            <a:off x="8018978" y="3502581"/>
            <a:ext cx="333375" cy="333375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0" name="Text 17"/>
          <p:cNvSpPr/>
          <p:nvPr/>
        </p:nvSpPr>
        <p:spPr>
          <a:xfrm>
            <a:off x="8084641" y="3543002"/>
            <a:ext cx="202049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7343775" y="2095262"/>
            <a:ext cx="1683782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EMI Generation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685240" y="2394466"/>
            <a:ext cx="3000851" cy="666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Calculates monthly EMI using interest rate and tenure, then generates complete payment schedule with principal/interest split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9919216" y="3669268"/>
            <a:ext cx="15240" cy="444460"/>
          </a:xfrm>
          <a:prstGeom prst="roundRect">
            <a:avLst>
              <a:gd name="adj" fmla="val 145848"/>
            </a:avLst>
          </a:prstGeom>
          <a:solidFill>
            <a:srgbClr val="D8D4D4"/>
          </a:solidFill>
          <a:ln/>
        </p:spPr>
      </p:sp>
      <p:sp>
        <p:nvSpPr>
          <p:cNvPr id="24" name="Shape 21"/>
          <p:cNvSpPr/>
          <p:nvPr/>
        </p:nvSpPr>
        <p:spPr>
          <a:xfrm>
            <a:off x="9760148" y="3502581"/>
            <a:ext cx="333375" cy="333375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5" name="Text 22"/>
          <p:cNvSpPr/>
          <p:nvPr/>
        </p:nvSpPr>
        <p:spPr>
          <a:xfrm>
            <a:off x="9825811" y="3543002"/>
            <a:ext cx="202049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9084945" y="4261961"/>
            <a:ext cx="1683782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Loan Creation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426410" y="4561165"/>
            <a:ext cx="3000851" cy="682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Creates approved Loan entity with ACTIVE status, stores EMI schedule, and publishes </a:t>
            </a:r>
            <a:r>
              <a:rPr lang="en-US" sz="11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LoanApprovedEvent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3055025" y="5484035"/>
            <a:ext cx="8520351" cy="26075"/>
          </a:xfrm>
          <a:prstGeom prst="rect">
            <a:avLst/>
          </a:prstGeom>
          <a:solidFill>
            <a:srgbClr val="3D3838">
              <a:alpha val="5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3055025" y="5824895"/>
            <a:ext cx="2217420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Loan Lifecycle States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3055025" y="6225540"/>
            <a:ext cx="4079438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b="1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CREATED</a:t>
            </a: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</a:t>
            </a:r>
            <a:r>
              <a:rPr lang="en-US" sz="1150" b="1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ACTIVE</a:t>
            </a: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</a:t>
            </a:r>
            <a:r>
              <a:rPr lang="en-US" sz="1150" b="1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CLOSED</a:t>
            </a: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/ </a:t>
            </a:r>
            <a:r>
              <a:rPr lang="en-US" sz="1150" b="1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DEFAULTED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3055025" y="6581180"/>
            <a:ext cx="4079438" cy="444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Loans move through defined states with specific business rules governing each transition and rollback scenarios.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7503557" y="5824895"/>
            <a:ext cx="2426613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Why Separate Service?</a:t>
            </a:r>
            <a:endParaRPr lang="en-US" sz="1550" dirty="0"/>
          </a:p>
        </p:txBody>
      </p:sp>
      <p:sp>
        <p:nvSpPr>
          <p:cNvPr id="33" name="Text 30"/>
          <p:cNvSpPr/>
          <p:nvPr/>
        </p:nvSpPr>
        <p:spPr>
          <a:xfrm>
            <a:off x="7503557" y="6225540"/>
            <a:ext cx="4079438" cy="444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Heavy Logic:</a:t>
            </a: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Complex calculations isolated from other services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7503557" y="6721912"/>
            <a:ext cx="4079438" cy="444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Independent Scaling:</a:t>
            </a: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Can scale during high application volume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7503557" y="7218283"/>
            <a:ext cx="4079438" cy="444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Maintainability:</a:t>
            </a: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Easier to update approval rules without touching other services</a:t>
            </a:r>
            <a:endParaRPr lang="en-US" sz="115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6B906EC-2A18-9E9C-BFF4-C8304528AE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96502" y="7793481"/>
            <a:ext cx="2133898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53107" y="532090"/>
            <a:ext cx="963335" cy="272891"/>
          </a:xfrm>
          <a:prstGeom prst="roundRect">
            <a:avLst>
              <a:gd name="adj" fmla="val 6672"/>
            </a:avLst>
          </a:prstGeom>
          <a:solidFill>
            <a:srgbClr val="E4E4E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4071" y="607814"/>
            <a:ext cx="121325" cy="1213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25998" y="577572"/>
            <a:ext cx="599480" cy="181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EMI ENGINE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2953107" y="865584"/>
            <a:ext cx="4182189" cy="431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EMI Calculation Engine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2953107" y="1524119"/>
            <a:ext cx="8724067" cy="455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EMI calculation engine is the mathematical core of loan processing, computing monthly payment amounts and generating complete amortization schedules with principal and interest breakdowns.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953107" y="2206704"/>
            <a:ext cx="2413754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Standard EMI Formula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953107" y="2692837"/>
            <a:ext cx="8724067" cy="506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3107" y="2692837"/>
            <a:ext cx="8724067" cy="5068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53107" y="3391614"/>
            <a:ext cx="872406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Where </a:t>
            </a:r>
            <a:r>
              <a:rPr lang="en-US" sz="1150" i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</a:t>
            </a: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is principal amount, </a:t>
            </a:r>
            <a:r>
              <a:rPr lang="en-US" sz="1150" i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</a:t>
            </a: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is monthly interest rate, and </a:t>
            </a:r>
            <a:r>
              <a:rPr lang="en-US" sz="1150" i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</a:t>
            </a: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is tenure in months.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2953107" y="3873172"/>
            <a:ext cx="8724067" cy="26551"/>
          </a:xfrm>
          <a:prstGeom prst="rect">
            <a:avLst/>
          </a:prstGeom>
          <a:solidFill>
            <a:srgbClr val="3D3838">
              <a:alpha val="5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2953107" y="4070271"/>
            <a:ext cx="151686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2953107" y="4312682"/>
            <a:ext cx="4286131" cy="1524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4" name="Text 10"/>
          <p:cNvSpPr/>
          <p:nvPr/>
        </p:nvSpPr>
        <p:spPr>
          <a:xfrm>
            <a:off x="2953107" y="4419005"/>
            <a:ext cx="2224802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Interest Rate Conversion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2953107" y="4725472"/>
            <a:ext cx="4286131" cy="455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Convert annual interest rate to monthly rate by dividing by 12 and converting percentage to decimal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7390924" y="4070271"/>
            <a:ext cx="151686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390924" y="4312682"/>
            <a:ext cx="4286250" cy="1524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8" name="Text 14"/>
          <p:cNvSpPr/>
          <p:nvPr/>
        </p:nvSpPr>
        <p:spPr>
          <a:xfrm>
            <a:off x="7390924" y="4419005"/>
            <a:ext cx="1724025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EMI Computation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7390924" y="4725472"/>
            <a:ext cx="4286250" cy="455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Apply formula to calculate fixed monthly payment amount that remains constant throughout loan tenure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2953107" y="5445919"/>
            <a:ext cx="151686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2953107" y="5688330"/>
            <a:ext cx="4286131" cy="1524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22" name="Text 18"/>
          <p:cNvSpPr/>
          <p:nvPr/>
        </p:nvSpPr>
        <p:spPr>
          <a:xfrm>
            <a:off x="2953107" y="5794653"/>
            <a:ext cx="1724025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Component Split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2953107" y="6101120"/>
            <a:ext cx="4286131" cy="455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 each payment, calculate interest component on remaining balance, then derive principal component as difference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7390924" y="5445919"/>
            <a:ext cx="151686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7390924" y="5688330"/>
            <a:ext cx="4286250" cy="1524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26" name="Text 22"/>
          <p:cNvSpPr/>
          <p:nvPr/>
        </p:nvSpPr>
        <p:spPr>
          <a:xfrm>
            <a:off x="7390924" y="5794653"/>
            <a:ext cx="1724025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Schedule Storage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7390924" y="6101120"/>
            <a:ext cx="4286250" cy="455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Store each EMI as separate database record with payment date, amounts, and remaining balance for tracking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2953107" y="6840498"/>
            <a:ext cx="8724067" cy="856893"/>
          </a:xfrm>
          <a:prstGeom prst="roundRect">
            <a:avLst>
              <a:gd name="adj" fmla="val 2656"/>
            </a:avLst>
          </a:prstGeom>
          <a:solidFill>
            <a:srgbClr val="D6D7DC"/>
          </a:solidFill>
          <a:ln/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4793" y="7049691"/>
            <a:ext cx="189548" cy="15168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446026" y="7030045"/>
            <a:ext cx="8079462" cy="455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EMI record tracks the principal component, interest component, payment due date, and remaining loan balance after payment—enabling precise financial tracking and reporting throughout the loan lifecycle.</a:t>
            </a:r>
            <a:endParaRPr lang="en-US" sz="11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14ECB0E-329E-2431-4A60-8967ECA323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27847" y="7697391"/>
            <a:ext cx="2133898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62697" y="828199"/>
            <a:ext cx="4630222" cy="426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Payment Processing Flow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479" y="1316593"/>
            <a:ext cx="937260" cy="11247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50143" y="1503998"/>
            <a:ext cx="2130266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 Selection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3050143" y="1882616"/>
            <a:ext cx="9654659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 selects EMI payment option from available plans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479" y="2441377"/>
            <a:ext cx="937260" cy="11247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050143" y="2628781"/>
            <a:ext cx="2130266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Request Sent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3050143" y="3007400"/>
            <a:ext cx="9654659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Payment request transmitted with user credentials and amount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5479" y="3566160"/>
            <a:ext cx="937260" cy="11247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050143" y="3753564"/>
            <a:ext cx="2130266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Status Validated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3050143" y="4132183"/>
            <a:ext cx="9654659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System verifies loan status, eligibility, and payment conditions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5479" y="4690943"/>
            <a:ext cx="937260" cy="112478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050143" y="4878348"/>
            <a:ext cx="2130266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Balance Updated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3050143" y="5256967"/>
            <a:ext cx="9654659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Outstanding balance adjusted in real-time upon successful validation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5479" y="5815727"/>
            <a:ext cx="937260" cy="112478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050143" y="6003131"/>
            <a:ext cx="2130266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Event Published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3050143" y="6381750"/>
            <a:ext cx="9654659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Kafka event broadcast to notify downstream services of payment completion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1925479" y="7151370"/>
            <a:ext cx="10779323" cy="562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asynchronous flow ensures </a:t>
            </a:r>
            <a:r>
              <a:rPr lang="en-US" sz="14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zero data inconsistency</a:t>
            </a: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through intelligent retry logic and comprehensive payment status tracking at every stage.</a:t>
            </a:r>
            <a:endParaRPr lang="en-US" sz="1450" dirty="0"/>
          </a:p>
        </p:txBody>
      </p:sp>
      <p:sp>
        <p:nvSpPr>
          <p:cNvPr id="19" name="Text 2"/>
          <p:cNvSpPr/>
          <p:nvPr/>
        </p:nvSpPr>
        <p:spPr>
          <a:xfrm>
            <a:off x="1925479" y="199399"/>
            <a:ext cx="8816340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Payment Service Architecture</a:t>
            </a:r>
            <a:endParaRPr lang="en-US" sz="4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A1655F7-4609-44F5-EFAB-10CCCCDD7B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60293" y="7713821"/>
            <a:ext cx="2133898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386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7606" y="789027"/>
            <a:ext cx="7115889" cy="511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Analytics Service: CQRS in 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47606" y="1862495"/>
            <a:ext cx="3999786" cy="383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Why Separate Analytics?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7606" y="2470904"/>
            <a:ext cx="4844653" cy="101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Read-heavy service:</a:t>
            </a: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Optimized for high-volume queries without impacting transaction processing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47606" y="3561517"/>
            <a:ext cx="4844653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Zero transactional load:</a:t>
            </a: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Isolated from write operations to prevent performance bottlenecks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47606" y="4314825"/>
            <a:ext cx="4844653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Event-based updates:</a:t>
            </a: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Consumes Kafka events for eventual consistency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47606" y="5242441"/>
            <a:ext cx="4844653" cy="1945124"/>
          </a:xfrm>
          <a:prstGeom prst="roundRect">
            <a:avLst>
              <a:gd name="adj" fmla="val 1735"/>
            </a:avLst>
          </a:prstGeom>
          <a:solidFill>
            <a:srgbClr val="D6D7D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15" y="5562957"/>
            <a:ext cx="281107" cy="22490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8531" y="5523548"/>
            <a:ext cx="3888819" cy="1349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 implement </a:t>
            </a:r>
            <a:r>
              <a:rPr lang="en-US" sz="1750" dirty="0">
                <a:solidFill>
                  <a:srgbClr val="FFFFFF"/>
                </a:solidFill>
                <a:highlight>
                  <a:srgbClr val="2D2E34"/>
                </a:highlight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CQRS</a:t>
            </a:r>
            <a:r>
              <a:rPr lang="en-US" sz="17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(Command Query Responsibility Segregation) to completely separate read and write concerns.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8757" y="1862495"/>
            <a:ext cx="3638193" cy="383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Metrics Generated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248757" y="2611398"/>
            <a:ext cx="3630216" cy="74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00"/>
              </a:lnSpc>
              <a:buNone/>
            </a:pPr>
            <a:r>
              <a:rPr lang="en-US" sz="58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15K+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6785729" y="3634859"/>
            <a:ext cx="2556272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Total Loans Issued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248757" y="4179213"/>
            <a:ext cx="3630216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Lifetime loan origination count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0160079" y="2611398"/>
            <a:ext cx="3630216" cy="74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00"/>
              </a:lnSpc>
              <a:buNone/>
            </a:pPr>
            <a:r>
              <a:rPr lang="en-US" sz="58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$2.4M</a:t>
            </a:r>
            <a:endParaRPr lang="en-US" sz="5800" dirty="0"/>
          </a:p>
        </p:txBody>
      </p:sp>
      <p:sp>
        <p:nvSpPr>
          <p:cNvPr id="15" name="Text 12"/>
          <p:cNvSpPr/>
          <p:nvPr/>
        </p:nvSpPr>
        <p:spPr>
          <a:xfrm>
            <a:off x="10697051" y="3634859"/>
            <a:ext cx="2556272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EMI Collected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0160079" y="4179213"/>
            <a:ext cx="3630216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Total payment volume processed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6248757" y="5078730"/>
            <a:ext cx="3630216" cy="74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00"/>
              </a:lnSpc>
              <a:buNone/>
            </a:pPr>
            <a:r>
              <a:rPr lang="en-US" sz="58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2.3%</a:t>
            </a:r>
            <a:endParaRPr lang="en-US" sz="5800" dirty="0"/>
          </a:p>
        </p:txBody>
      </p:sp>
      <p:sp>
        <p:nvSpPr>
          <p:cNvPr id="18" name="Text 15"/>
          <p:cNvSpPr/>
          <p:nvPr/>
        </p:nvSpPr>
        <p:spPr>
          <a:xfrm>
            <a:off x="6785729" y="6102191"/>
            <a:ext cx="2556272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Default Rate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248757" y="6646545"/>
            <a:ext cx="3630216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Portfolio risk indicator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10160079" y="5078730"/>
            <a:ext cx="3630216" cy="74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00"/>
              </a:lnSpc>
              <a:buNone/>
            </a:pPr>
            <a:r>
              <a:rPr lang="en-US" sz="58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8.2K</a:t>
            </a:r>
            <a:endParaRPr lang="en-US" sz="5800" dirty="0"/>
          </a:p>
        </p:txBody>
      </p:sp>
      <p:sp>
        <p:nvSpPr>
          <p:cNvPr id="21" name="Text 18"/>
          <p:cNvSpPr/>
          <p:nvPr/>
        </p:nvSpPr>
        <p:spPr>
          <a:xfrm>
            <a:off x="10697051" y="6102191"/>
            <a:ext cx="2556272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Active Loans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0160079" y="6646545"/>
            <a:ext cx="3630216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Current outstanding accounts</a:t>
            </a:r>
            <a:endParaRPr lang="en-US" sz="17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BC48D1D-BE9F-1790-D967-8322C5622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72324" y="7801533"/>
            <a:ext cx="2133898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287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381125"/>
            <a:ext cx="6395680" cy="56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Notification Service Design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863798" y="2435662"/>
            <a:ext cx="4136350" cy="4412813"/>
          </a:xfrm>
          <a:prstGeom prst="roundRect">
            <a:avLst>
              <a:gd name="adj" fmla="val 895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1110615" y="2682478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Event Consumers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110615" y="3251121"/>
            <a:ext cx="364271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notification service subscribes to critical business events: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10615" y="4139446"/>
            <a:ext cx="3642717" cy="76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LoanApprovedEvent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– Triggers approval notifications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10615" y="4988957"/>
            <a:ext cx="3642717" cy="76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PaymentSuccessEvent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– Confirms EMI transactions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10615" y="5838468"/>
            <a:ext cx="3642717" cy="76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LoanRejectedEvent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– Sends rejection alerts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246965" y="2435662"/>
            <a:ext cx="4136350" cy="4412813"/>
          </a:xfrm>
          <a:prstGeom prst="roundRect">
            <a:avLst>
              <a:gd name="adj" fmla="val 895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5493782" y="2682478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Delivery Channels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5493782" y="3251121"/>
            <a:ext cx="3642717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Multi-channel notification strategy: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493782" y="3769281"/>
            <a:ext cx="364271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Email notifications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(future-ready with template engine)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493782" y="4595932"/>
            <a:ext cx="364271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In-app notifications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(real-time user alerts)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493782" y="5422583"/>
            <a:ext cx="364271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SMS gateway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(planned integration)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630132" y="2435662"/>
            <a:ext cx="4136350" cy="4412813"/>
          </a:xfrm>
          <a:prstGeom prst="roundRect">
            <a:avLst>
              <a:gd name="adj" fmla="val 895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9876949" y="2682478"/>
            <a:ext cx="3642717" cy="84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Architecture Benefits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9876949" y="3671768"/>
            <a:ext cx="3642717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Decoupled design advantages: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876949" y="4189928"/>
            <a:ext cx="364271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direct dependencies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on business services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876949" y="5016579"/>
            <a:ext cx="364271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Guaranteed delivery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via Kafka's persistence layer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876949" y="5843230"/>
            <a:ext cx="364271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Fault tolerance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 automatic retry mechanisms</a:t>
            </a:r>
            <a:endParaRPr lang="en-US" sz="1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6F41A4F-8C60-E1B3-66D0-4A57CE57F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2717" y="7711963"/>
            <a:ext cx="2133898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126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F737B9-C958-9FD4-25D7-E009A35BB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1576387"/>
            <a:ext cx="7620000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662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59412" y="653058"/>
            <a:ext cx="4860488" cy="423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Kafka: The Event Backbone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7303651" y="1448991"/>
            <a:ext cx="22860" cy="3635335"/>
          </a:xfrm>
          <a:prstGeom prst="roundRect">
            <a:avLst>
              <a:gd name="adj" fmla="val 122236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6569631" y="1647111"/>
            <a:ext cx="558760" cy="22860"/>
          </a:xfrm>
          <a:prstGeom prst="roundRect">
            <a:avLst>
              <a:gd name="adj" fmla="val 122236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7105531" y="1448991"/>
            <a:ext cx="419100" cy="419100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7188101" y="1499830"/>
            <a:ext cx="253960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756303" y="1512927"/>
            <a:ext cx="2627352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loan-application-events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9412" y="1889165"/>
            <a:ext cx="4424243" cy="558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Captures new loan requests and initial customer data submissions for processing pipeline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501771" y="2764750"/>
            <a:ext cx="558760" cy="22860"/>
          </a:xfrm>
          <a:prstGeom prst="roundRect">
            <a:avLst>
              <a:gd name="adj" fmla="val 122236"/>
            </a:avLst>
          </a:prstGeom>
          <a:solidFill>
            <a:srgbClr val="D8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7105531" y="2566630"/>
            <a:ext cx="419100" cy="419100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7188101" y="2617470"/>
            <a:ext cx="253960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6507" y="2630567"/>
            <a:ext cx="2344698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loan-approval-events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246507" y="3006804"/>
            <a:ext cx="4424363" cy="558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Broadcasts approval/rejection decisions with risk assessment metadata to all subscribers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569631" y="3728085"/>
            <a:ext cx="558760" cy="22860"/>
          </a:xfrm>
          <a:prstGeom prst="roundRect">
            <a:avLst>
              <a:gd name="adj" fmla="val 122236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7105531" y="3529965"/>
            <a:ext cx="419100" cy="419100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7188101" y="3580805"/>
            <a:ext cx="253960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266843" y="3593902"/>
            <a:ext cx="2116812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payment-events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959412" y="3970139"/>
            <a:ext cx="4424243" cy="558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Publishes EMI transactions, balance updates, and payment confirmations across the ecosystem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959412" y="5480090"/>
            <a:ext cx="305550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Why Kafka Over REST?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959412" y="5983843"/>
            <a:ext cx="5128498" cy="558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Non-blocking communication</a:t>
            </a: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– Services remain responsive during high load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959412" y="6607850"/>
            <a:ext cx="5128498" cy="558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Loose coupling</a:t>
            </a: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– Independent service evolution without breaking contracts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959412" y="7231856"/>
            <a:ext cx="5128498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 throughput</a:t>
            </a: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– Handles millions of events per second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549872" y="5480090"/>
            <a:ext cx="26846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Delivery Guarantees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549872" y="5983843"/>
            <a:ext cx="5128498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50" b="1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At-least-once delivery</a:t>
            </a: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ensures no message loss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549872" y="6328410"/>
            <a:ext cx="5128498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Fault tolerance</a:t>
            </a: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through replication and partitioning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49872" y="6672977"/>
            <a:ext cx="5128498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Ordered processing</a:t>
            </a: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within partition boundaries</a:t>
            </a:r>
            <a:endParaRPr lang="en-US" sz="14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60406CD-A5B6-388B-A928-39F01A5EC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0293" y="7783591"/>
            <a:ext cx="2133898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908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384935"/>
            <a:ext cx="9929574" cy="56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Frontend Architecture: Angular Deep Dive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863798" y="2439472"/>
            <a:ext cx="6327934" cy="4405193"/>
          </a:xfrm>
          <a:prstGeom prst="roundRect">
            <a:avLst>
              <a:gd name="adj" fmla="val 332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3318" y="2439472"/>
            <a:ext cx="121920" cy="4405193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5" name="Text 3"/>
          <p:cNvSpPr/>
          <p:nvPr/>
        </p:nvSpPr>
        <p:spPr>
          <a:xfrm>
            <a:off x="1232535" y="2716768"/>
            <a:ext cx="42039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Modern Angular Design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232535" y="3285411"/>
            <a:ext cx="5681901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Built with Angular 16+ best practices for performance and maintainability: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32535" y="4173736"/>
            <a:ext cx="5681901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Standalone components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– Reduced bundle size and improved tree-shaking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232535" y="5000387"/>
            <a:ext cx="5681901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Service-based API calls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– Centralized HTTP logic with interceptors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232535" y="5827038"/>
            <a:ext cx="5681901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Lazy-loaded modules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– On-demand feature loading for faster initial render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438549" y="2439472"/>
            <a:ext cx="6328053" cy="4405193"/>
          </a:xfrm>
          <a:prstGeom prst="roundRect">
            <a:avLst>
              <a:gd name="adj" fmla="val 332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8069" y="2439472"/>
            <a:ext cx="121920" cy="4405193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12" name="Text 10"/>
          <p:cNvSpPr/>
          <p:nvPr/>
        </p:nvSpPr>
        <p:spPr>
          <a:xfrm>
            <a:off x="7807285" y="2716768"/>
            <a:ext cx="4960025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State Management Strategy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7807285" y="3285411"/>
            <a:ext cx="568202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 and efficient state handling across the application: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807285" y="4173736"/>
            <a:ext cx="568202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JWT tokens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stored in httpOnly cookies with CSRF protection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807285" y="5000387"/>
            <a:ext cx="568202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Role-based UI rendering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– Dynamic component visibility by user permissions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807285" y="5827038"/>
            <a:ext cx="568202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RxJS reactive streams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– Real-time data synchronization</a:t>
            </a:r>
            <a:endParaRPr lang="en-US" sz="1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3389692-0C48-7821-1168-68AC23EE7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2356" y="7689382"/>
            <a:ext cx="2133898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3320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2023" y="427315"/>
            <a:ext cx="2822496" cy="35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 Journeys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852023" y="1187410"/>
            <a:ext cx="155138" cy="193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852023" y="1428155"/>
            <a:ext cx="4273868" cy="2286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5" name="Text 3"/>
          <p:cNvSpPr/>
          <p:nvPr/>
        </p:nvSpPr>
        <p:spPr>
          <a:xfrm>
            <a:off x="2852023" y="1551384"/>
            <a:ext cx="1764030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Register &amp; Login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852023" y="1927027"/>
            <a:ext cx="4273868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 authentication with JWT tokens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52023" y="2431375"/>
            <a:ext cx="155138" cy="193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52023" y="2672120"/>
            <a:ext cx="4273868" cy="2286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9" name="Text 7"/>
          <p:cNvSpPr/>
          <p:nvPr/>
        </p:nvSpPr>
        <p:spPr>
          <a:xfrm>
            <a:off x="2852023" y="2795349"/>
            <a:ext cx="1764030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Apply for Loan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852023" y="3170992"/>
            <a:ext cx="4273868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Submit application with required documents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52023" y="3675340"/>
            <a:ext cx="155138" cy="193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52023" y="3916085"/>
            <a:ext cx="4273868" cy="2286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3" name="Text 11"/>
          <p:cNvSpPr/>
          <p:nvPr/>
        </p:nvSpPr>
        <p:spPr>
          <a:xfrm>
            <a:off x="2852023" y="4039314"/>
            <a:ext cx="1764030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Track Application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852023" y="4414957"/>
            <a:ext cx="4273868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status updates and notifications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52023" y="4919305"/>
            <a:ext cx="155138" cy="193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52023" y="5160050"/>
            <a:ext cx="4273868" cy="2286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7" name="Text 15"/>
          <p:cNvSpPr/>
          <p:nvPr/>
        </p:nvSpPr>
        <p:spPr>
          <a:xfrm>
            <a:off x="2852023" y="5283279"/>
            <a:ext cx="1764030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Pay EMI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852023" y="5658922"/>
            <a:ext cx="4273868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Flexible payment options with instant confirmation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52023" y="6163270"/>
            <a:ext cx="155138" cy="193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852023" y="6404015"/>
            <a:ext cx="4273868" cy="2286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21" name="Text 19"/>
          <p:cNvSpPr/>
          <p:nvPr/>
        </p:nvSpPr>
        <p:spPr>
          <a:xfrm>
            <a:off x="2852023" y="6527244"/>
            <a:ext cx="1764030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View Notifications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852023" y="6902887"/>
            <a:ext cx="4273868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In-app alerts and email updates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52023" y="7426643"/>
            <a:ext cx="1764030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Customer Flow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512129" y="1187410"/>
            <a:ext cx="155138" cy="193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12129" y="1428155"/>
            <a:ext cx="4273868" cy="2286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26" name="Text 24"/>
          <p:cNvSpPr/>
          <p:nvPr/>
        </p:nvSpPr>
        <p:spPr>
          <a:xfrm>
            <a:off x="7512129" y="1551384"/>
            <a:ext cx="1880592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Review Applications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512129" y="1927027"/>
            <a:ext cx="4273868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Access complete applicant profiles and documents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12129" y="2431375"/>
            <a:ext cx="155138" cy="193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12129" y="2672120"/>
            <a:ext cx="4273868" cy="2286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30" name="Text 28"/>
          <p:cNvSpPr/>
          <p:nvPr/>
        </p:nvSpPr>
        <p:spPr>
          <a:xfrm>
            <a:off x="7512129" y="2795349"/>
            <a:ext cx="1764030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Risk Assessment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512129" y="3170992"/>
            <a:ext cx="4273868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Evaluate creditworthiness with analytics dashboard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12129" y="3675340"/>
            <a:ext cx="155138" cy="193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12129" y="3916085"/>
            <a:ext cx="4273868" cy="2286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34" name="Text 32"/>
          <p:cNvSpPr/>
          <p:nvPr/>
        </p:nvSpPr>
        <p:spPr>
          <a:xfrm>
            <a:off x="7512129" y="4039314"/>
            <a:ext cx="1764030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Approve/Reject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512129" y="4414957"/>
            <a:ext cx="4273868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One-click decision with automatic notifications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512129" y="4919305"/>
            <a:ext cx="155138" cy="193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512129" y="5160050"/>
            <a:ext cx="4273868" cy="2286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38" name="Text 36"/>
          <p:cNvSpPr/>
          <p:nvPr/>
        </p:nvSpPr>
        <p:spPr>
          <a:xfrm>
            <a:off x="7512129" y="5283279"/>
            <a:ext cx="1764030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Monitor Analytics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512129" y="5658922"/>
            <a:ext cx="4273868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KPIs and portfolio health metrics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512129" y="6182677"/>
            <a:ext cx="1764030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Admin Flow</a:t>
            </a:r>
            <a:endParaRPr lang="en-US" sz="135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66E35600-16BC-FBEF-C22A-3EE385057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6502" y="7795905"/>
            <a:ext cx="2133898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8531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4425" y="756523"/>
            <a:ext cx="7246382" cy="490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Database Strategy &amp; CI/CD Pipeline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1114425" y="1677948"/>
            <a:ext cx="6092904" cy="5795129"/>
          </a:xfrm>
          <a:prstGeom prst="roundRect">
            <a:avLst>
              <a:gd name="adj" fmla="val 558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1330047" y="1893570"/>
            <a:ext cx="646986" cy="646986"/>
          </a:xfrm>
          <a:prstGeom prst="roundRect">
            <a:avLst>
              <a:gd name="adj" fmla="val 14131814"/>
            </a:avLst>
          </a:prstGeom>
          <a:solidFill>
            <a:srgbClr val="2D2E3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7927" y="2071449"/>
            <a:ext cx="291108" cy="2911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30047" y="2756178"/>
            <a:ext cx="4512469" cy="36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MongoDB: Schema Flexibility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330047" y="3253026"/>
            <a:ext cx="5661660" cy="64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Why MongoDB?</a:t>
            </a: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Perfect for microservices with evolving schemas and rapid iteration cycles.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330047" y="4029075"/>
            <a:ext cx="5661660" cy="64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Schema flexibility</a:t>
            </a: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– Adapt to changing requirements without migrations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330047" y="4751308"/>
            <a:ext cx="5661660" cy="64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Faster development</a:t>
            </a: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– JSON-like documents match application models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330047" y="5473541"/>
            <a:ext cx="5661660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Microservice-friendly</a:t>
            </a: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– Each service owns its database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1330047" y="6039445"/>
            <a:ext cx="5661660" cy="1218009"/>
          </a:xfrm>
          <a:prstGeom prst="roundRect">
            <a:avLst>
              <a:gd name="adj" fmla="val 2656"/>
            </a:avLst>
          </a:prstGeom>
          <a:solidFill>
            <a:srgbClr val="D6D7D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5669" y="6348770"/>
            <a:ext cx="269558" cy="2156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30849" y="6308884"/>
            <a:ext cx="4745236" cy="64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 Rule:</a:t>
            </a: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No joins across services. Use IDs for loose coupling only.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7422952" y="1677948"/>
            <a:ext cx="6092904" cy="5795129"/>
          </a:xfrm>
          <a:prstGeom prst="roundRect">
            <a:avLst>
              <a:gd name="adj" fmla="val 558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7638574" y="1893570"/>
            <a:ext cx="646986" cy="646986"/>
          </a:xfrm>
          <a:prstGeom prst="roundRect">
            <a:avLst>
              <a:gd name="adj" fmla="val 14131814"/>
            </a:avLst>
          </a:prstGeom>
          <a:solidFill>
            <a:srgbClr val="2D2E3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16453" y="2071449"/>
            <a:ext cx="291108" cy="2911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638574" y="2756178"/>
            <a:ext cx="2940963" cy="36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CI/CD Pipeline</a:t>
            </a:r>
            <a:endParaRPr lang="en-US" sz="2300" dirty="0"/>
          </a:p>
        </p:txBody>
      </p:sp>
      <p:sp>
        <p:nvSpPr>
          <p:cNvPr id="18" name="Text 13"/>
          <p:cNvSpPr/>
          <p:nvPr/>
        </p:nvSpPr>
        <p:spPr>
          <a:xfrm>
            <a:off x="7638574" y="3253026"/>
            <a:ext cx="5661660" cy="64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quality gates</a:t>
            </a: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ensure production-ready code at every commit.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7638574" y="4029075"/>
            <a:ext cx="5661660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/>
            </a:pPr>
            <a:r>
              <a:rPr lang="en-US" sz="16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Code checkout</a:t>
            </a: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– Pull latest from main branch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7638574" y="4427934"/>
            <a:ext cx="5661660" cy="64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2"/>
            </a:pPr>
            <a:r>
              <a:rPr lang="en-US" sz="16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&amp; compile</a:t>
            </a: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– Maven/Gradle with dependency resolution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7638574" y="5150168"/>
            <a:ext cx="5661660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3"/>
            </a:pPr>
            <a:r>
              <a:rPr lang="en-US" sz="16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 execution</a:t>
            </a: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– Unit and integration test suites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7638574" y="5549027"/>
            <a:ext cx="5661660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4"/>
            </a:pPr>
            <a:r>
              <a:rPr lang="en-US" sz="16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Quality analysis</a:t>
            </a: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– SonarQube code smell detection</a:t>
            </a:r>
            <a:endParaRPr lang="en-US" sz="1650" dirty="0"/>
          </a:p>
        </p:txBody>
      </p:sp>
      <p:sp>
        <p:nvSpPr>
          <p:cNvPr id="23" name="Text 18"/>
          <p:cNvSpPr/>
          <p:nvPr/>
        </p:nvSpPr>
        <p:spPr>
          <a:xfrm>
            <a:off x="7638574" y="5947886"/>
            <a:ext cx="5661660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5"/>
            </a:pPr>
            <a:r>
              <a:rPr lang="en-US" sz="16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Coverage check</a:t>
            </a: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– JaCoCo threshold validation (&gt;80%)</a:t>
            </a:r>
            <a:endParaRPr lang="en-US" sz="16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5252475-59B1-9600-D4A6-731C235D73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48907" y="7699506"/>
            <a:ext cx="2133898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4310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03672"/>
            <a:ext cx="4655463" cy="56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Advantages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2005489" y="1858208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Fault Isolation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3798" y="2356842"/>
            <a:ext cx="3946565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Service failures remain contained, preventing cascading outages across the platform</a:t>
            </a:r>
            <a:endParaRPr lang="en-US" sz="1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180" y="2384108"/>
            <a:ext cx="4515922" cy="451592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0078" y="3088481"/>
            <a:ext cx="369213" cy="3692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19918" y="1858208"/>
            <a:ext cx="349377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Independent Scalability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819918" y="2356842"/>
            <a:ext cx="3946684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Scale individual services based on demand without over-provisioning the entire system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7180" y="2384108"/>
            <a:ext cx="4515922" cy="451592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20752" y="3088481"/>
            <a:ext cx="369213" cy="3692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66734" y="383750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Easy Maintenance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0066734" y="4336137"/>
            <a:ext cx="369986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Deploy and update services independently with zero downtime for other components</a:t>
            </a:r>
            <a:endParaRPr lang="en-US" sz="1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57180" y="2384108"/>
            <a:ext cx="4515922" cy="4515922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10970" y="4457343"/>
            <a:ext cx="369213" cy="36921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819918" y="600182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Faster Approvals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9819918" y="6500455"/>
            <a:ext cx="3946684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workflows reduce loan processing time from days to hours</a:t>
            </a:r>
            <a:endParaRPr lang="en-US" sz="19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57180" y="2384108"/>
            <a:ext cx="4515922" cy="4515922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20752" y="5826204"/>
            <a:ext cx="369213" cy="369213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2005489" y="5816798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Reduced Errors</a:t>
            </a:r>
            <a:endParaRPr lang="en-US" sz="2200" dirty="0"/>
          </a:p>
        </p:txBody>
      </p:sp>
      <p:sp>
        <p:nvSpPr>
          <p:cNvPr id="20" name="Text 10"/>
          <p:cNvSpPr/>
          <p:nvPr/>
        </p:nvSpPr>
        <p:spPr>
          <a:xfrm>
            <a:off x="863798" y="6315432"/>
            <a:ext cx="3946565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Event-driven architecture ensures consistency and eliminates manual data entry mistakes</a:t>
            </a:r>
            <a:endParaRPr lang="en-US" sz="19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57180" y="2384108"/>
            <a:ext cx="4515922" cy="4515922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340078" y="5826204"/>
            <a:ext cx="369213" cy="369213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1758672" y="383750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Better CX</a:t>
            </a:r>
            <a:endParaRPr lang="en-US" sz="2200" dirty="0"/>
          </a:p>
        </p:txBody>
      </p:sp>
      <p:sp>
        <p:nvSpPr>
          <p:cNvPr id="24" name="Text 12"/>
          <p:cNvSpPr/>
          <p:nvPr/>
        </p:nvSpPr>
        <p:spPr>
          <a:xfrm>
            <a:off x="863798" y="4336137"/>
            <a:ext cx="3699748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notifications and self-service portals improve customer satisfaction scores</a:t>
            </a:r>
            <a:endParaRPr lang="en-US" sz="1900" dirty="0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57180" y="2384108"/>
            <a:ext cx="4515922" cy="4515922"/>
          </a:xfrm>
          <a:prstGeom prst="rect">
            <a:avLst/>
          </a:prstGeom>
        </p:spPr>
      </p:pic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549860" y="4457343"/>
            <a:ext cx="369213" cy="36921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7ECF0F1-A775-4725-5068-DDF23F79226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408419" y="7756509"/>
            <a:ext cx="2133898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7239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65672" y="700683"/>
            <a:ext cx="1153954" cy="359807"/>
          </a:xfrm>
          <a:prstGeom prst="roundRect">
            <a:avLst>
              <a:gd name="adj" fmla="val 6670"/>
            </a:avLst>
          </a:prstGeom>
          <a:solidFill>
            <a:srgbClr val="E4E4E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5568" y="800576"/>
            <a:ext cx="159901" cy="159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5360" y="760571"/>
            <a:ext cx="674370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ROADMAP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65672" y="1140381"/>
            <a:ext cx="5311735" cy="56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Future Enhancements</a:t>
            </a:r>
            <a:endParaRPr lang="en-US" sz="3550" dirty="0"/>
          </a:p>
        </p:txBody>
      </p:sp>
      <p:sp>
        <p:nvSpPr>
          <p:cNvPr id="6" name="Shape 3"/>
          <p:cNvSpPr/>
          <p:nvPr/>
        </p:nvSpPr>
        <p:spPr>
          <a:xfrm>
            <a:off x="1865590" y="2508171"/>
            <a:ext cx="5349478" cy="199906"/>
          </a:xfrm>
          <a:prstGeom prst="roundRect">
            <a:avLst>
              <a:gd name="adj" fmla="val 15006"/>
            </a:avLst>
          </a:prstGeom>
          <a:solidFill>
            <a:srgbClr val="F2EEEE"/>
          </a:solidFill>
          <a:ln/>
        </p:spPr>
      </p:sp>
      <p:sp>
        <p:nvSpPr>
          <p:cNvPr id="7" name="Shape 4"/>
          <p:cNvSpPr/>
          <p:nvPr/>
        </p:nvSpPr>
        <p:spPr>
          <a:xfrm>
            <a:off x="1565672" y="2308265"/>
            <a:ext cx="599837" cy="599837"/>
          </a:xfrm>
          <a:prstGeom prst="roundRect">
            <a:avLst>
              <a:gd name="adj" fmla="val 76221"/>
            </a:avLst>
          </a:prstGeom>
          <a:solidFill>
            <a:srgbClr val="F2EEEE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5572" y="2458283"/>
            <a:ext cx="299918" cy="2999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65578" y="3108008"/>
            <a:ext cx="3423047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Credit Score Integration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1765578" y="3568660"/>
            <a:ext cx="524970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API integration with major credit bureaus (Experian, Equifax, TransUnion) for instant creditworthiness assessment and automated risk scoring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7715012" y="2208252"/>
            <a:ext cx="5349597" cy="199906"/>
          </a:xfrm>
          <a:prstGeom prst="roundRect">
            <a:avLst>
              <a:gd name="adj" fmla="val 15006"/>
            </a:avLst>
          </a:prstGeom>
          <a:solidFill>
            <a:srgbClr val="F2EEEE"/>
          </a:solidFill>
          <a:ln/>
        </p:spPr>
      </p:sp>
      <p:sp>
        <p:nvSpPr>
          <p:cNvPr id="12" name="Shape 8"/>
          <p:cNvSpPr/>
          <p:nvPr/>
        </p:nvSpPr>
        <p:spPr>
          <a:xfrm>
            <a:off x="7415093" y="2008346"/>
            <a:ext cx="599837" cy="599837"/>
          </a:xfrm>
          <a:prstGeom prst="roundRect">
            <a:avLst>
              <a:gd name="adj" fmla="val 76221"/>
            </a:avLst>
          </a:prstGeom>
          <a:solidFill>
            <a:srgbClr val="F2EEEE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4993" y="2158365"/>
            <a:ext cx="299918" cy="29991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14999" y="2808089"/>
            <a:ext cx="3135273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AI-Based Risk Scoring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7614999" y="3268742"/>
            <a:ext cx="5249823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Machine learning models analyzing 50+ data points including payment history, income patterns, and behavioral signals to predict default probability with 95% accuracy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1865590" y="5368409"/>
            <a:ext cx="5349478" cy="199906"/>
          </a:xfrm>
          <a:prstGeom prst="roundRect">
            <a:avLst>
              <a:gd name="adj" fmla="val 15006"/>
            </a:avLst>
          </a:prstGeom>
          <a:solidFill>
            <a:srgbClr val="F2EEEE"/>
          </a:solidFill>
          <a:ln/>
        </p:spPr>
      </p:sp>
      <p:sp>
        <p:nvSpPr>
          <p:cNvPr id="17" name="Shape 12"/>
          <p:cNvSpPr/>
          <p:nvPr/>
        </p:nvSpPr>
        <p:spPr>
          <a:xfrm>
            <a:off x="1565672" y="5168503"/>
            <a:ext cx="599837" cy="599837"/>
          </a:xfrm>
          <a:prstGeom prst="roundRect">
            <a:avLst>
              <a:gd name="adj" fmla="val 76221"/>
            </a:avLst>
          </a:prstGeom>
          <a:solidFill>
            <a:srgbClr val="F2EEEE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15572" y="5318522"/>
            <a:ext cx="299918" cy="29991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765578" y="5968246"/>
            <a:ext cx="4279940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Auto-Loan Recommendations</a:t>
            </a:r>
            <a:endParaRPr lang="en-US" sz="2100" dirty="0"/>
          </a:p>
        </p:txBody>
      </p:sp>
      <p:sp>
        <p:nvSpPr>
          <p:cNvPr id="20" name="Text 14"/>
          <p:cNvSpPr/>
          <p:nvPr/>
        </p:nvSpPr>
        <p:spPr>
          <a:xfrm>
            <a:off x="1765578" y="6428899"/>
            <a:ext cx="524970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Personalized loan product suggestions based on user profile, spending behavior, and financial goals using collaborative filtering algorithms</a:t>
            </a:r>
            <a:endParaRPr lang="en-US" sz="1550" dirty="0"/>
          </a:p>
        </p:txBody>
      </p:sp>
      <p:sp>
        <p:nvSpPr>
          <p:cNvPr id="21" name="Shape 15"/>
          <p:cNvSpPr/>
          <p:nvPr/>
        </p:nvSpPr>
        <p:spPr>
          <a:xfrm>
            <a:off x="7715012" y="5068491"/>
            <a:ext cx="5349597" cy="199906"/>
          </a:xfrm>
          <a:prstGeom prst="roundRect">
            <a:avLst>
              <a:gd name="adj" fmla="val 15006"/>
            </a:avLst>
          </a:prstGeom>
          <a:solidFill>
            <a:srgbClr val="F2EEEE"/>
          </a:solidFill>
          <a:ln/>
        </p:spPr>
      </p:sp>
      <p:sp>
        <p:nvSpPr>
          <p:cNvPr id="22" name="Shape 16"/>
          <p:cNvSpPr/>
          <p:nvPr/>
        </p:nvSpPr>
        <p:spPr>
          <a:xfrm>
            <a:off x="7415093" y="4868585"/>
            <a:ext cx="599837" cy="599837"/>
          </a:xfrm>
          <a:prstGeom prst="roundRect">
            <a:avLst>
              <a:gd name="adj" fmla="val 76221"/>
            </a:avLst>
          </a:prstGeom>
          <a:solidFill>
            <a:srgbClr val="F2EEEE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64993" y="5018603"/>
            <a:ext cx="299918" cy="29991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614999" y="5668327"/>
            <a:ext cx="3706297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Cloud-Native Deployment</a:t>
            </a:r>
            <a:endParaRPr lang="en-US" sz="2100" dirty="0"/>
          </a:p>
        </p:txBody>
      </p:sp>
      <p:sp>
        <p:nvSpPr>
          <p:cNvPr id="25" name="Text 18"/>
          <p:cNvSpPr/>
          <p:nvPr/>
        </p:nvSpPr>
        <p:spPr>
          <a:xfrm>
            <a:off x="7614999" y="6128980"/>
            <a:ext cx="5249823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Kubernetes orchestration on AWS/GCP with auto-scaling, service mesh (Istio), and multi-region disaster recovery for 99.99% uptime SLA</a:t>
            </a:r>
            <a:endParaRPr lang="en-US" sz="15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C437262-3742-8E7B-B539-6B2222F3DDE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384356" y="7684860"/>
            <a:ext cx="2133898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233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2057</Words>
  <Application>Microsoft Office PowerPoint</Application>
  <PresentationFormat>Custom</PresentationFormat>
  <Paragraphs>325</Paragraphs>
  <Slides>27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Source Sans 3</vt:lpstr>
      <vt:lpstr>Montserrat Light</vt:lpstr>
      <vt:lpstr>Consolas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Akankshya Panda</cp:lastModifiedBy>
  <cp:revision>12</cp:revision>
  <dcterms:created xsi:type="dcterms:W3CDTF">2026-01-08T18:17:38Z</dcterms:created>
  <dcterms:modified xsi:type="dcterms:W3CDTF">2026-01-09T07:04:09Z</dcterms:modified>
</cp:coreProperties>
</file>